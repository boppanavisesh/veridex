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109728"/>
          </a:xfrm>
          <a:prstGeom prst="rect">
            <a:avLst/>
          </a:prstGeom>
          <a:solidFill>
            <a:srgbClr val="D4501A"/>
          </a:solidFill>
          <a:ln w="12700">
            <a:solidFill>
              <a:srgbClr val="D45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5029200" cy="109728"/>
          </a:xfrm>
          <a:prstGeom prst="rect">
            <a:avLst/>
          </a:prstGeom>
          <a:solidFill>
            <a:srgbClr val="D4501A"/>
          </a:solidFill>
          <a:ln w="12700">
            <a:solidFill>
              <a:srgbClr val="D45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" y="2487168"/>
            <a:ext cx="4114800" cy="54864"/>
          </a:xfrm>
          <a:prstGeom prst="rect">
            <a:avLst/>
          </a:prstGeom>
          <a:solidFill>
            <a:srgbClr val="D4501A"/>
          </a:solidFill>
          <a:ln w="12700">
            <a:solidFill>
              <a:srgbClr val="D45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606040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elf-Evolving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081528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nterprise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557016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602736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ext-Best-Action &amp;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032504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407822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rustworthy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507992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553712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983480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502920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etwork for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5458968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5504688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vidence-driven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5934456"/>
            <a:ext cx="2926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5980176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6492240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IIM Lucknow  ·  Hackathon PS-2  ·  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12080" y="548640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Agentic Decision Intelligence Platform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12080" y="1051560"/>
            <a:ext cx="6675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B2B Staffing Operations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1463040"/>
            <a:ext cx="6583680" cy="0"/>
          </a:xfrm>
          <a:prstGeom prst="line">
            <a:avLst/>
          </a:prstGeom>
          <a:noFill/>
          <a:ln w="19050">
            <a:solidFill>
              <a:srgbClr val="D450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160020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69164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Planner-Orchestrated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21808" y="2039112"/>
            <a:ext cx="261518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agent routing, D1–D9 classification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75320" y="160020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5048" y="169164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VoI-Targeted Evidence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85048" y="2039112"/>
            <a:ext cx="261518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 loop fetches only highest-value missing facts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27889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88036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  Multi-Objective Bidding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21808" y="3227832"/>
            <a:ext cx="261518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specialised bidders with hard compliance veto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27889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85048" y="288036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Explainable by Design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85048" y="3227832"/>
            <a:ext cx="261518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Evidence-backed rationale, counterfactuals, precedent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39776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406908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🤝  Human-in-the-Loop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21808" y="4416552"/>
            <a:ext cx="261518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2-checkpoint sign-off; nothing auto-executes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75320" y="39776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85048" y="406908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Self-Evolving Memory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85048" y="4416552"/>
            <a:ext cx="261518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Outcome-driven VoI + weight calibration over time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5102352"/>
            <a:ext cx="6720840" cy="1572768"/>
          </a:xfrm>
          <a:prstGeom prst="roundRect">
            <a:avLst>
              <a:gd name="adj" fmla="val 4070"/>
            </a:avLst>
          </a:prstGeom>
          <a:solidFill>
            <a:srgbClr val="F5EDE6"/>
          </a:solidFill>
          <a:ln w="10160">
            <a:solidFill>
              <a:srgbClr val="C0622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5349240" y="516636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Domain: B2B Staffing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49240" y="5404104"/>
            <a:ext cx="6400800" cy="0"/>
          </a:xfrm>
          <a:prstGeom prst="line">
            <a:avLst/>
          </a:prstGeom>
          <a:noFill/>
          <a:ln w="6350">
            <a:solidFill>
              <a:srgbClr val="D450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5468112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5376672" y="59436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Types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D1–D9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93408" y="5468112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6693408" y="59436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Specialised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10144" y="5468112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8010144" y="59436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326880" y="5468112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9326880" y="59436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Checkpoints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643616" y="5468112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∞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10643616" y="59436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Self-Evolving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SENTINEL: 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Self-Evolving Enterprise Next-Best-Action &amp; Trustworthy Intelligence Network for Evidence-driven Learning  ·  B2B Staffing AI Platform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11704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66928"/>
            <a:ext cx="256032" cy="1371600"/>
          </a:xfrm>
          <a:prstGeom prst="rect">
            <a:avLst/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228600" y="566928"/>
            <a:ext cx="25603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66928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612648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Business Challenge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85039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Fragmented Data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03120" y="85039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ATS, CRM, Email &amp; Calls — siloed, no unified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1612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 No Evidence Trail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116128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lack rationale and supporting facts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47218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Compliance Risk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0" y="147218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checks miss visa &amp; certification expiry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 rot="16200000">
            <a:off x="228600" y="2011680"/>
            <a:ext cx="256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 rot="16200000">
            <a:off x="228600" y="2980944"/>
            <a:ext cx="2560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15968" y="566928"/>
            <a:ext cx="7635240" cy="256032"/>
          </a:xfrm>
          <a:prstGeom prst="roundRect">
            <a:avLst>
              <a:gd name="adj" fmla="val 17857"/>
            </a:avLst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566928"/>
            <a:ext cx="7635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KEY DECISION TYPES — FULL DOMAIN COVERAGE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15968" y="877824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07408" y="969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</p:spPr>
      </p:sp>
      <p:sp>
        <p:nvSpPr>
          <p:cNvPr id="41" name="Text 39"/>
          <p:cNvSpPr/>
          <p:nvPr/>
        </p:nvSpPr>
        <p:spPr>
          <a:xfrm>
            <a:off x="4407408" y="969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18888" y="96926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Fulfillment Risk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07408" y="1371600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07408" y="142646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407408" y="157276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 open 5+ days, &lt;2 submittals, SLA breached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07408" y="2084832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47" name="Text 45"/>
          <p:cNvSpPr/>
          <p:nvPr/>
        </p:nvSpPr>
        <p:spPr>
          <a:xfrm>
            <a:off x="4462272" y="208483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↓ Time-to-Fill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0" y="877824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D450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49440" y="969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D4501A"/>
          </a:solidFill>
        </p:spPr>
      </p:sp>
      <p:sp>
        <p:nvSpPr>
          <p:cNvPr id="50" name="Text 48"/>
          <p:cNvSpPr/>
          <p:nvPr/>
        </p:nvSpPr>
        <p:spPr>
          <a:xfrm>
            <a:off x="6949440" y="969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60920" y="96926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Shortlisting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49440" y="1371600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142646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949440" y="157276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job order created — who to submit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49440" y="2084832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56" name="Text 54"/>
          <p:cNvSpPr/>
          <p:nvPr/>
        </p:nvSpPr>
        <p:spPr>
          <a:xfrm>
            <a:off x="7004304" y="208483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↑ Submit→Interview Rate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390888" y="877824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482328" y="969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</p:spPr>
      </p:sp>
      <p:sp>
        <p:nvSpPr>
          <p:cNvPr id="59" name="Text 57"/>
          <p:cNvSpPr/>
          <p:nvPr/>
        </p:nvSpPr>
        <p:spPr>
          <a:xfrm>
            <a:off x="9482328" y="969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893808" y="96926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Flight-Risk / Fall-off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482328" y="1371600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82328" y="142646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9482328" y="157276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response, competing offer signal in email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482328" y="2084832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65" name="Text 63"/>
          <p:cNvSpPr/>
          <p:nvPr/>
        </p:nvSpPr>
        <p:spPr>
          <a:xfrm>
            <a:off x="9537192" y="208483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↓ Fall-off Rate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15968" y="2441448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006B6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407408" y="25328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6B6B"/>
          </a:solidFill>
        </p:spPr>
      </p:sp>
      <p:sp>
        <p:nvSpPr>
          <p:cNvPr id="68" name="Text 66"/>
          <p:cNvSpPr/>
          <p:nvPr/>
        </p:nvSpPr>
        <p:spPr>
          <a:xfrm>
            <a:off x="4407408" y="2532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D4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18888" y="253288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 End-of-Term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407408" y="2935224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07408" y="29900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00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407408" y="3136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 end within 30/60 days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407408" y="3648456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74" name="Text 72"/>
          <p:cNvSpPr/>
          <p:nvPr/>
        </p:nvSpPr>
        <p:spPr>
          <a:xfrm>
            <a:off x="4462272" y="3648456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↑ Renewal Rate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858000" y="2441448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1A3A6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949440" y="25328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</p:spPr>
      </p:sp>
      <p:sp>
        <p:nvSpPr>
          <p:cNvPr id="77" name="Text 75"/>
          <p:cNvSpPr/>
          <p:nvPr/>
        </p:nvSpPr>
        <p:spPr>
          <a:xfrm>
            <a:off x="6949440" y="2532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360920" y="253288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 Monetisation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949440" y="2935224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0" y="29900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949440" y="3136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idle on bench &gt; N days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949440" y="3648456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83" name="Text 81"/>
          <p:cNvSpPr/>
          <p:nvPr/>
        </p:nvSpPr>
        <p:spPr>
          <a:xfrm>
            <a:off x="7004304" y="3648456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↓ Bench Days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390888" y="2441448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7B2D9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482328" y="25328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7B2D9B"/>
          </a:solidFill>
        </p:spPr>
      </p:sp>
      <p:sp>
        <p:nvSpPr>
          <p:cNvPr id="86" name="Text 84"/>
          <p:cNvSpPr/>
          <p:nvPr/>
        </p:nvSpPr>
        <p:spPr>
          <a:xfrm>
            <a:off x="9482328" y="2532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D6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893808" y="253288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Health / Churn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482328" y="2935224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82328" y="29900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7B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9482328" y="3136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in requisitions, negative QBR sentiment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482328" y="3648456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92" name="Text 90"/>
          <p:cNvSpPr/>
          <p:nvPr/>
        </p:nvSpPr>
        <p:spPr>
          <a:xfrm>
            <a:off x="9537192" y="3648456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↑ Client Retention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4005072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D450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407408" y="40965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D4501A"/>
          </a:solidFill>
        </p:spPr>
      </p:sp>
      <p:sp>
        <p:nvSpPr>
          <p:cNvPr id="95" name="Text 93"/>
          <p:cNvSpPr/>
          <p:nvPr/>
        </p:nvSpPr>
        <p:spPr>
          <a:xfrm>
            <a:off x="4407408" y="40965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D7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818888" y="40965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Exposure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407408" y="4498848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07408" y="4553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4407408" y="470001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Visa/certification expiring within X days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407408" y="5212080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101" name="Text 99"/>
          <p:cNvSpPr/>
          <p:nvPr/>
        </p:nvSpPr>
        <p:spPr>
          <a:xfrm>
            <a:off x="4462272" y="5212080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↓ Compliance Incidents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858000" y="4005072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1A6B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6949440" y="40965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A6B1A"/>
          </a:solidFill>
        </p:spPr>
      </p:sp>
      <p:sp>
        <p:nvSpPr>
          <p:cNvPr id="104" name="Text 102"/>
          <p:cNvSpPr/>
          <p:nvPr/>
        </p:nvSpPr>
        <p:spPr>
          <a:xfrm>
            <a:off x="6949440" y="40965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D8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360920" y="40965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/ Margin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949440" y="4498848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49440" y="4553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6949440" y="470001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pushes back on rate; market rate shifts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949440" y="5212080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110" name="Text 108"/>
          <p:cNvSpPr/>
          <p:nvPr/>
        </p:nvSpPr>
        <p:spPr>
          <a:xfrm>
            <a:off x="7004304" y="5212080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↑ Gross Margin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390888" y="4005072"/>
            <a:ext cx="24231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D450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9482328" y="40965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D4501A"/>
          </a:solidFill>
        </p:spPr>
      </p:sp>
      <p:sp>
        <p:nvSpPr>
          <p:cNvPr id="113" name="Text 111"/>
          <p:cNvSpPr/>
          <p:nvPr/>
        </p:nvSpPr>
        <p:spPr>
          <a:xfrm>
            <a:off x="9482328" y="40965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D9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9893808" y="409651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Cross-sell / Upsell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9482328" y="4498848"/>
            <a:ext cx="2240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482328" y="4553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9482328" y="470001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satisfaction + growing client headcount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9482328" y="5212080"/>
            <a:ext cx="2240280" cy="201168"/>
          </a:xfrm>
          <a:prstGeom prst="roundRect">
            <a:avLst>
              <a:gd name="adj" fmla="val 18182"/>
            </a:avLst>
          </a:prstGeom>
          <a:solidFill>
            <a:srgbClr val="F5EDE6"/>
          </a:solidFill>
        </p:spPr>
      </p:sp>
      <p:sp>
        <p:nvSpPr>
          <p:cNvPr id="119" name="Text 117"/>
          <p:cNvSpPr/>
          <p:nvPr/>
        </p:nvSpPr>
        <p:spPr>
          <a:xfrm>
            <a:off x="9537192" y="5212080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 ↑ Revenue per Account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228600" y="5577840"/>
            <a:ext cx="1170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decision request is classified by the Planner Agent — classification drives which evidence checklist, agents, and VoI weights are applied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28600" y="5806440"/>
            <a:ext cx="11704320" cy="960120"/>
          </a:xfrm>
          <a:prstGeom prst="roundRect">
            <a:avLst>
              <a:gd name="adj" fmla="val 5714"/>
            </a:avLst>
          </a:prstGeom>
          <a:solidFill>
            <a:srgbClr val="FBF0E8"/>
          </a:solidFill>
          <a:ln w="10160">
            <a:solidFill>
              <a:srgbClr val="C0622A"/>
            </a:solidFill>
            <a:prstDash val="dash"/>
          </a:ln>
        </p:spPr>
      </p:sp>
      <p:sp>
        <p:nvSpPr>
          <p:cNvPr id="122" name="Text 120"/>
          <p:cNvSpPr/>
          <p:nvPr/>
        </p:nvSpPr>
        <p:spPr>
          <a:xfrm>
            <a:off x="365760" y="587044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SENTINEL: 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1600200" y="5870448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Self-Evolving Enterprise NBA Platform that transforms recruiter/AM interactions into explainable, evidence-backed decisions — with human-in-the-loop sign-off, multi-objective bidding, and a continuous learning loop that gets smarter with every outcome.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65760" y="6190488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125" name="Text 123"/>
          <p:cNvSpPr/>
          <p:nvPr/>
        </p:nvSpPr>
        <p:spPr>
          <a:xfrm>
            <a:off x="530352" y="614476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Planner + Agent Orchestration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4261104" y="6190488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127" name="Text 125"/>
          <p:cNvSpPr/>
          <p:nvPr/>
        </p:nvSpPr>
        <p:spPr>
          <a:xfrm>
            <a:off x="4425696" y="614476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Evidence Memory Graph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8156448" y="6190488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129" name="Text 127"/>
          <p:cNvSpPr/>
          <p:nvPr/>
        </p:nvSpPr>
        <p:spPr>
          <a:xfrm>
            <a:off x="8321040" y="614476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Readiness Evaluator (DRE) + VoI Loop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365760" y="6428232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131" name="Text 129"/>
          <p:cNvSpPr/>
          <p:nvPr/>
        </p:nvSpPr>
        <p:spPr>
          <a:xfrm>
            <a:off x="530352" y="6382512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Multi-Objective Bidding Layer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4261104" y="6428232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133" name="Text 131"/>
          <p:cNvSpPr/>
          <p:nvPr/>
        </p:nvSpPr>
        <p:spPr>
          <a:xfrm>
            <a:off x="4425696" y="6382512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Recommendations + HITL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8156448" y="6428232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135" name="Text 133"/>
          <p:cNvSpPr/>
          <p:nvPr/>
        </p:nvSpPr>
        <p:spPr>
          <a:xfrm>
            <a:off x="8321040" y="6382512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Learning from Outcomes</a:t>
            </a:r>
            <a:endParaRPr lang="en-US" sz="850" dirty="0"/>
          </a:p>
        </p:txBody>
      </p:sp>
      <p:pic>
        <p:nvPicPr>
          <p:cNvPr id="136" name="Picture 135" descr="sentinel_targets_enabl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985645"/>
            <a:ext cx="3942080" cy="3482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 Architecture: 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Agentic Decision Pipeline — Planner → Evidence → DRE/VoI Loop → Bidding → Explanation → HITL → Self-Evolving Learning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11704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pic>
        <p:nvPicPr>
          <p:cNvPr id="4" name="Image 0" descr="/home/claude/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0"/>
            <a:ext cx="11795760" cy="6144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SENTINEL: Key Innovation Pillars — 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this genuinely intelligent — not just RAG or a chatbot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11704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66928"/>
            <a:ext cx="365760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5240">
            <a:solidFill>
              <a:srgbClr val="5C1A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566928"/>
            <a:ext cx="3657600" cy="201168"/>
          </a:xfrm>
          <a:prstGeom prst="roundRect">
            <a:avLst>
              <a:gd name="adj" fmla="val 31818"/>
            </a:avLst>
          </a:prstGeom>
          <a:solidFill>
            <a:srgbClr val="5C1A1A"/>
          </a:solidFill>
        </p:spPr>
      </p:sp>
      <p:sp>
        <p:nvSpPr>
          <p:cNvPr id="6" name="Shape 4"/>
          <p:cNvSpPr/>
          <p:nvPr/>
        </p:nvSpPr>
        <p:spPr>
          <a:xfrm>
            <a:off x="228600" y="667512"/>
            <a:ext cx="3657600" cy="100584"/>
          </a:xfrm>
          <a:prstGeom prst="rect">
            <a:avLst/>
          </a:prstGeom>
          <a:solidFill>
            <a:srgbClr val="5C1A1A"/>
          </a:solidFill>
        </p:spPr>
      </p:sp>
      <p:sp>
        <p:nvSpPr>
          <p:cNvPr id="7" name="Text 5"/>
          <p:cNvSpPr/>
          <p:nvPr/>
        </p:nvSpPr>
        <p:spPr>
          <a:xfrm>
            <a:off x="320040" y="58521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DIFFERENTIATOR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Readiness Evaluator (DRE) + VoI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3474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261872"/>
            <a:ext cx="82296" cy="82296"/>
          </a:xfrm>
          <a:prstGeom prst="ellipse">
            <a:avLst/>
          </a:prstGeom>
          <a:solidFill>
            <a:srgbClr val="5C1A1A"/>
          </a:solidFill>
        </p:spPr>
      </p:sp>
      <p:sp>
        <p:nvSpPr>
          <p:cNvPr id="11" name="Text 9"/>
          <p:cNvSpPr/>
          <p:nvPr/>
        </p:nvSpPr>
        <p:spPr>
          <a:xfrm>
            <a:off x="484632" y="117957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Per-decision-type checklist scores evidence completeness → Ready / Not Ready / Ready-with-caveats / Blocked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" y="1664208"/>
            <a:ext cx="82296" cy="82296"/>
          </a:xfrm>
          <a:prstGeom prst="ellipse">
            <a:avLst/>
          </a:prstGeom>
          <a:solidFill>
            <a:srgbClr val="5C1A1A"/>
          </a:solidFill>
        </p:spPr>
      </p:sp>
      <p:sp>
        <p:nvSpPr>
          <p:cNvPr id="13" name="Text 11"/>
          <p:cNvSpPr/>
          <p:nvPr/>
        </p:nvSpPr>
        <p:spPr>
          <a:xfrm>
            <a:off x="484632" y="158191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Gap Analysis: ranks missing facts by weight × (1−confidence) — highest-impact gap fetched first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" y="2066544"/>
            <a:ext cx="82296" cy="82296"/>
          </a:xfrm>
          <a:prstGeom prst="ellipse">
            <a:avLst/>
          </a:prstGeom>
          <a:solidFill>
            <a:srgbClr val="5C1A1A"/>
          </a:solidFill>
        </p:spPr>
      </p:sp>
      <p:sp>
        <p:nvSpPr>
          <p:cNvPr id="15" name="Text 13"/>
          <p:cNvSpPr/>
          <p:nvPr/>
        </p:nvSpPr>
        <p:spPr>
          <a:xfrm>
            <a:off x="484632" y="198424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Agent Creator: spins narrow single-purpose agent for ONLY the top-ranked gap — no brute-force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" y="2468880"/>
            <a:ext cx="82296" cy="82296"/>
          </a:xfrm>
          <a:prstGeom prst="ellipse">
            <a:avLst/>
          </a:prstGeom>
          <a:solidFill>
            <a:srgbClr val="5C1A1A"/>
          </a:solidFill>
        </p:spPr>
      </p:sp>
      <p:sp>
        <p:nvSpPr>
          <p:cNvPr id="17" name="Text 15"/>
          <p:cNvSpPr/>
          <p:nvPr/>
        </p:nvSpPr>
        <p:spPr>
          <a:xfrm>
            <a:off x="484632" y="23865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= terminal → Human Compliance Escalation; bypasses optimizer entirely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8328" y="2871216"/>
            <a:ext cx="82296" cy="82296"/>
          </a:xfrm>
          <a:prstGeom prst="ellipse">
            <a:avLst/>
          </a:prstGeom>
          <a:solidFill>
            <a:srgbClr val="5C1A1A"/>
          </a:solidFill>
        </p:spPr>
      </p:sp>
      <p:sp>
        <p:nvSpPr>
          <p:cNvPr id="19" name="Text 17"/>
          <p:cNvSpPr/>
          <p:nvPr/>
        </p:nvSpPr>
        <p:spPr>
          <a:xfrm>
            <a:off x="484632" y="27889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Ready-with-caveats: surfaces ONE targeted clarifying question to recruiter — agent-initiated, not passive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96512" y="566928"/>
            <a:ext cx="365760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5240">
            <a:solidFill>
              <a:srgbClr val="D450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96512" y="566928"/>
            <a:ext cx="3657600" cy="201168"/>
          </a:xfrm>
          <a:prstGeom prst="roundRect">
            <a:avLst>
              <a:gd name="adj" fmla="val 31818"/>
            </a:avLst>
          </a:prstGeom>
          <a:solidFill>
            <a:srgbClr val="D4501A"/>
          </a:solidFill>
        </p:spPr>
      </p:sp>
      <p:sp>
        <p:nvSpPr>
          <p:cNvPr id="22" name="Shape 20"/>
          <p:cNvSpPr/>
          <p:nvPr/>
        </p:nvSpPr>
        <p:spPr>
          <a:xfrm>
            <a:off x="4096512" y="667512"/>
            <a:ext cx="3657600" cy="100584"/>
          </a:xfrm>
          <a:prstGeom prst="rect">
            <a:avLst/>
          </a:prstGeom>
          <a:solidFill>
            <a:srgbClr val="D4501A"/>
          </a:solidFill>
        </p:spPr>
      </p:sp>
      <p:sp>
        <p:nvSpPr>
          <p:cNvPr id="23" name="Text 21"/>
          <p:cNvSpPr/>
          <p:nvPr/>
        </p:nvSpPr>
        <p:spPr>
          <a:xfrm>
            <a:off x="4187952" y="58521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DECISION MAKING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87952" y="8046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Multi-Objective Bidding Layer + Optimizer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87952" y="1115568"/>
            <a:ext cx="3474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1261872"/>
            <a:ext cx="82296" cy="82296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27" name="Text 25"/>
          <p:cNvSpPr/>
          <p:nvPr/>
        </p:nvSpPr>
        <p:spPr>
          <a:xfrm>
            <a:off x="4352544" y="117957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bidders: Revenue · Risk · Customer-Success · Finance · Compliance (hard veto) · Ops/Productivity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1664208"/>
            <a:ext cx="82296" cy="82296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29" name="Text 27"/>
          <p:cNvSpPr/>
          <p:nvPr/>
        </p:nvSpPr>
        <p:spPr>
          <a:xfrm>
            <a:off x="4352544" y="158191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bid = (score 0–1, rationale, confidence, evidence_refs) — normalized common scale across ALL bidders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0" y="2066544"/>
            <a:ext cx="82296" cy="82296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31" name="Text 29"/>
          <p:cNvSpPr/>
          <p:nvPr/>
        </p:nvSpPr>
        <p:spPr>
          <a:xfrm>
            <a:off x="4352544" y="198424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Agent: ALWAYS deterministic rule eval — NEVER an LLM call (irreversible veto power)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06240" y="2468880"/>
            <a:ext cx="82296" cy="82296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33" name="Text 31"/>
          <p:cNvSpPr/>
          <p:nvPr/>
        </p:nvSpPr>
        <p:spPr>
          <a:xfrm>
            <a:off x="4352544" y="23865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 Pareto-aware weighted aggregation + typed slot composition — not a free-form LLM call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2871216"/>
            <a:ext cx="82296" cy="82296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35" name="Text 33"/>
          <p:cNvSpPr/>
          <p:nvPr/>
        </p:nvSpPr>
        <p:spPr>
          <a:xfrm>
            <a:off x="4352544" y="27889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Null-action output: 'recommend nothing + why' is a valid explicit output — credibility signal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964424" y="566928"/>
            <a:ext cx="365760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5240">
            <a:solidFill>
              <a:srgbClr val="1A3A6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64424" y="566928"/>
            <a:ext cx="3657600" cy="201168"/>
          </a:xfrm>
          <a:prstGeom prst="roundRect">
            <a:avLst>
              <a:gd name="adj" fmla="val 31818"/>
            </a:avLst>
          </a:prstGeom>
          <a:solidFill>
            <a:srgbClr val="1A3A6B"/>
          </a:solidFill>
        </p:spPr>
      </p:sp>
      <p:sp>
        <p:nvSpPr>
          <p:cNvPr id="38" name="Shape 36"/>
          <p:cNvSpPr/>
          <p:nvPr/>
        </p:nvSpPr>
        <p:spPr>
          <a:xfrm>
            <a:off x="7964424" y="667512"/>
            <a:ext cx="3657600" cy="100584"/>
          </a:xfrm>
          <a:prstGeom prst="rect">
            <a:avLst/>
          </a:prstGeom>
          <a:solidFill>
            <a:srgbClr val="1A3A6B"/>
          </a:solidFill>
        </p:spPr>
      </p:sp>
      <p:sp>
        <p:nvSpPr>
          <p:cNvPr id="39" name="Text 37"/>
          <p:cNvSpPr/>
          <p:nvPr/>
        </p:nvSpPr>
        <p:spPr>
          <a:xfrm>
            <a:off x="8055864" y="58521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MEMORY &amp; RAG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055864" y="8046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Evidence Memory Graph + Precedent RAG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55864" y="1115568"/>
            <a:ext cx="3474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74152" y="1261872"/>
            <a:ext cx="82296" cy="82296"/>
          </a:xfrm>
          <a:prstGeom prst="ellipse">
            <a:avLst/>
          </a:prstGeom>
          <a:solidFill>
            <a:srgbClr val="1A3A6B"/>
          </a:solidFill>
        </p:spPr>
      </p:sp>
      <p:sp>
        <p:nvSpPr>
          <p:cNvPr id="43" name="Text 41"/>
          <p:cNvSpPr/>
          <p:nvPr/>
        </p:nvSpPr>
        <p:spPr>
          <a:xfrm>
            <a:off x="8220456" y="117957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 store: entity nodes (Client, JobOrder, Candidate, Contract) + temporal edges with relationship types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74152" y="1664208"/>
            <a:ext cx="82296" cy="82296"/>
          </a:xfrm>
          <a:prstGeom prst="ellipse">
            <a:avLst/>
          </a:prstGeom>
          <a:solidFill>
            <a:srgbClr val="1A3A6B"/>
          </a:solidFill>
        </p:spPr>
      </p:sp>
      <p:sp>
        <p:nvSpPr>
          <p:cNvPr id="45" name="Text 43"/>
          <p:cNvSpPr/>
          <p:nvPr/>
        </p:nvSpPr>
        <p:spPr>
          <a:xfrm>
            <a:off x="8220456" y="158191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fact tagged: value · source_agent · confidence · timestamp · evidence_ref · pii_class · tenant_id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74152" y="2066544"/>
            <a:ext cx="82296" cy="82296"/>
          </a:xfrm>
          <a:prstGeom prst="ellipse">
            <a:avLst/>
          </a:prstGeom>
          <a:solidFill>
            <a:srgbClr val="1A3A6B"/>
          </a:solidFill>
        </p:spPr>
      </p:sp>
      <p:sp>
        <p:nvSpPr>
          <p:cNvPr id="47" name="Text 45"/>
          <p:cNvSpPr/>
          <p:nvPr/>
        </p:nvSpPr>
        <p:spPr>
          <a:xfrm>
            <a:off x="8220456" y="198424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Contradiction Detector: flags conflicts from different sources; caps contradicted fact's confidence; can flip Ready → Not Ready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074152" y="2468880"/>
            <a:ext cx="82296" cy="82296"/>
          </a:xfrm>
          <a:prstGeom prst="ellipse">
            <a:avLst/>
          </a:prstGeom>
          <a:solidFill>
            <a:srgbClr val="1A3A6B"/>
          </a:solidFill>
        </p:spPr>
      </p:sp>
      <p:sp>
        <p:nvSpPr>
          <p:cNvPr id="49" name="Text 47"/>
          <p:cNvSpPr/>
          <p:nvPr/>
        </p:nvSpPr>
        <p:spPr>
          <a:xfrm>
            <a:off x="8220456" y="23865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Precedent Agent: vector search over past Outcome+Fact bundles → top-k similar past decisions with actual outcomes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074152" y="2871216"/>
            <a:ext cx="82296" cy="82296"/>
          </a:xfrm>
          <a:prstGeom prst="ellipse">
            <a:avLst/>
          </a:prstGeom>
          <a:solidFill>
            <a:srgbClr val="1A3A6B"/>
          </a:solidFill>
        </p:spPr>
      </p:sp>
      <p:sp>
        <p:nvSpPr>
          <p:cNvPr id="51" name="Text 49"/>
          <p:cNvSpPr/>
          <p:nvPr/>
        </p:nvSpPr>
        <p:spPr>
          <a:xfrm>
            <a:off x="8220456" y="27889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No-match floor: if similarity &lt; threshold, nothing returned — no forced low-quality precedent matches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3410712"/>
            <a:ext cx="365760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5240">
            <a:solidFill>
              <a:srgbClr val="7B2D9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28600" y="3410712"/>
            <a:ext cx="3657600" cy="201168"/>
          </a:xfrm>
          <a:prstGeom prst="roundRect">
            <a:avLst>
              <a:gd name="adj" fmla="val 31818"/>
            </a:avLst>
          </a:prstGeom>
          <a:solidFill>
            <a:srgbClr val="7B2D9B"/>
          </a:solidFill>
        </p:spPr>
      </p:sp>
      <p:sp>
        <p:nvSpPr>
          <p:cNvPr id="54" name="Shape 52"/>
          <p:cNvSpPr/>
          <p:nvPr/>
        </p:nvSpPr>
        <p:spPr>
          <a:xfrm>
            <a:off x="228600" y="3511296"/>
            <a:ext cx="3657600" cy="100584"/>
          </a:xfrm>
          <a:prstGeom prst="rect">
            <a:avLst/>
          </a:prstGeom>
          <a:solidFill>
            <a:srgbClr val="7B2D9B"/>
          </a:solidFill>
        </p:spPr>
      </p:sp>
      <p:sp>
        <p:nvSpPr>
          <p:cNvPr id="55" name="Text 53"/>
          <p:cNvSpPr/>
          <p:nvPr/>
        </p:nvSpPr>
        <p:spPr>
          <a:xfrm>
            <a:off x="320040" y="3429000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EXTENSIBILITY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20040" y="364845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Planner + Agent Factory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3959352"/>
            <a:ext cx="3474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" y="4105656"/>
            <a:ext cx="82296" cy="82296"/>
          </a:xfrm>
          <a:prstGeom prst="ellipse">
            <a:avLst/>
          </a:prstGeom>
          <a:solidFill>
            <a:srgbClr val="7B2D9B"/>
          </a:solidFill>
        </p:spPr>
      </p:sp>
      <p:sp>
        <p:nvSpPr>
          <p:cNvPr id="59" name="Text 57"/>
          <p:cNvSpPr/>
          <p:nvPr/>
        </p:nvSpPr>
        <p:spPr>
          <a:xfrm>
            <a:off x="484632" y="40233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Planner classifies request → D1–D9 (or hybrid) → decomposes into evidence sub-tasks → routes to agents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8328" y="4507992"/>
            <a:ext cx="82296" cy="82296"/>
          </a:xfrm>
          <a:prstGeom prst="ellipse">
            <a:avLst/>
          </a:prstGeom>
          <a:solidFill>
            <a:srgbClr val="7B2D9B"/>
          </a:solidFill>
        </p:spPr>
      </p:sp>
      <p:sp>
        <p:nvSpPr>
          <p:cNvPr id="61" name="Text 59"/>
          <p:cNvSpPr/>
          <p:nvPr/>
        </p:nvSpPr>
        <p:spPr>
          <a:xfrm>
            <a:off x="484632" y="442569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Capability matching: cosine similarity ≥ 0.8 → existing agent; &lt; 0.8 → templated factory spins new agent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8328" y="4910328"/>
            <a:ext cx="82296" cy="82296"/>
          </a:xfrm>
          <a:prstGeom prst="ellipse">
            <a:avLst/>
          </a:prstGeom>
          <a:solidFill>
            <a:srgbClr val="7B2D9B"/>
          </a:solidFill>
        </p:spPr>
      </p:sp>
      <p:sp>
        <p:nvSpPr>
          <p:cNvPr id="63" name="Text 61"/>
          <p:cNvSpPr/>
          <p:nvPr/>
        </p:nvSpPr>
        <p:spPr>
          <a:xfrm>
            <a:off x="484632" y="482803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decision type: add DRE checklist + agent mapping — zero pipeline change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38328" y="5312664"/>
            <a:ext cx="82296" cy="82296"/>
          </a:xfrm>
          <a:prstGeom prst="ellipse">
            <a:avLst/>
          </a:prstGeom>
          <a:solidFill>
            <a:srgbClr val="7B2D9B"/>
          </a:solidFill>
        </p:spPr>
      </p:sp>
      <p:sp>
        <p:nvSpPr>
          <p:cNvPr id="65" name="Text 63"/>
          <p:cNvSpPr/>
          <p:nvPr/>
        </p:nvSpPr>
        <p:spPr>
          <a:xfrm>
            <a:off x="484632" y="523036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domain (SaaS/Energy): swap agent catalog + DRE checklist — Planner, Bidding, Memory all untouched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8328" y="5715000"/>
            <a:ext cx="82296" cy="82296"/>
          </a:xfrm>
          <a:prstGeom prst="ellipse">
            <a:avLst/>
          </a:prstGeom>
          <a:solidFill>
            <a:srgbClr val="7B2D9B"/>
          </a:solidFill>
        </p:spPr>
      </p:sp>
      <p:sp>
        <p:nvSpPr>
          <p:cNvPr id="67" name="Text 65"/>
          <p:cNvSpPr/>
          <p:nvPr/>
        </p:nvSpPr>
        <p:spPr>
          <a:xfrm>
            <a:off x="484632" y="563270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Multi-tenancy: every Fact carries tenant_id; all memory queries tenant-scoped at storage layer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096512" y="3410712"/>
            <a:ext cx="365760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5240">
            <a:solidFill>
              <a:srgbClr val="006B6B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096512" y="3410712"/>
            <a:ext cx="3657600" cy="201168"/>
          </a:xfrm>
          <a:prstGeom prst="roundRect">
            <a:avLst>
              <a:gd name="adj" fmla="val 31818"/>
            </a:avLst>
          </a:prstGeom>
          <a:solidFill>
            <a:srgbClr val="006B6B"/>
          </a:solidFill>
        </p:spPr>
      </p:sp>
      <p:sp>
        <p:nvSpPr>
          <p:cNvPr id="70" name="Shape 68"/>
          <p:cNvSpPr/>
          <p:nvPr/>
        </p:nvSpPr>
        <p:spPr>
          <a:xfrm>
            <a:off x="4096512" y="3511296"/>
            <a:ext cx="3657600" cy="100584"/>
          </a:xfrm>
          <a:prstGeom prst="rect">
            <a:avLst/>
          </a:prstGeom>
          <a:solidFill>
            <a:srgbClr val="006B6B"/>
          </a:solidFill>
        </p:spPr>
      </p:sp>
      <p:sp>
        <p:nvSpPr>
          <p:cNvPr id="71" name="Text 69"/>
          <p:cNvSpPr/>
          <p:nvPr/>
        </p:nvSpPr>
        <p:spPr>
          <a:xfrm>
            <a:off x="4187952" y="3429000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 &amp; HITL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187952" y="364845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 Engine + 2-Checkpoint Human-in-the-Loop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187952" y="3959352"/>
            <a:ext cx="3474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06240" y="4105656"/>
            <a:ext cx="82296" cy="82296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75" name="Text 73"/>
          <p:cNvSpPr/>
          <p:nvPr/>
        </p:nvSpPr>
        <p:spPr>
          <a:xfrm>
            <a:off x="4352544" y="40233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Checkpoint 1 (agent-initiated): fires on Ready-with-caveats — targeted question before recommendation finalized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206240" y="4507992"/>
            <a:ext cx="82296" cy="82296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77" name="Text 75"/>
          <p:cNvSpPr/>
          <p:nvPr/>
        </p:nvSpPr>
        <p:spPr>
          <a:xfrm>
            <a:off x="4352544" y="442569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Checkpoint 2 (terminal): Accept / Edit / Reject / 'Why not X' — nothing executes without human sign-off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206240" y="4910328"/>
            <a:ext cx="82296" cy="82296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79" name="Text 77"/>
          <p:cNvSpPr/>
          <p:nvPr/>
        </p:nvSpPr>
        <p:spPr>
          <a:xfrm>
            <a:off x="4352544" y="482803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'Why not X': reads from already-computed Bid state — zero extra model calls, instant response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206240" y="5312664"/>
            <a:ext cx="82296" cy="82296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81" name="Text 79"/>
          <p:cNvSpPr/>
          <p:nvPr/>
        </p:nvSpPr>
        <p:spPr>
          <a:xfrm>
            <a:off x="4352544" y="523036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Explanation: winning rationale + losing bid reasons + counterfactuals + similar past cases from Precedent Agent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206240" y="5715000"/>
            <a:ext cx="82296" cy="82296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83" name="Text 81"/>
          <p:cNvSpPr/>
          <p:nvPr/>
        </p:nvSpPr>
        <p:spPr>
          <a:xfrm>
            <a:off x="4352544" y="563270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queue inbox: decisions sorted by SLA-risk/urgency (not FIFO) — prevents alert fatigue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964424" y="3410712"/>
            <a:ext cx="3657600" cy="2724912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15240">
            <a:solidFill>
              <a:srgbClr val="1A6B1A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964424" y="3410712"/>
            <a:ext cx="3657600" cy="201168"/>
          </a:xfrm>
          <a:prstGeom prst="roundRect">
            <a:avLst>
              <a:gd name="adj" fmla="val 31818"/>
            </a:avLst>
          </a:prstGeom>
          <a:solidFill>
            <a:srgbClr val="1A6B1A"/>
          </a:solidFill>
        </p:spPr>
      </p:sp>
      <p:sp>
        <p:nvSpPr>
          <p:cNvPr id="86" name="Shape 84"/>
          <p:cNvSpPr/>
          <p:nvPr/>
        </p:nvSpPr>
        <p:spPr>
          <a:xfrm>
            <a:off x="7964424" y="3511296"/>
            <a:ext cx="3657600" cy="100584"/>
          </a:xfrm>
          <a:prstGeom prst="rect">
            <a:avLst/>
          </a:prstGeom>
          <a:solidFill>
            <a:srgbClr val="1A6B1A"/>
          </a:solidFill>
        </p:spPr>
      </p:sp>
      <p:sp>
        <p:nvSpPr>
          <p:cNvPr id="87" name="Text 85"/>
          <p:cNvSpPr/>
          <p:nvPr/>
        </p:nvSpPr>
        <p:spPr>
          <a:xfrm>
            <a:off x="8055864" y="3429000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LEARNING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055864" y="364845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Capture + Memory Learning Service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055864" y="3959352"/>
            <a:ext cx="3474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74152" y="4105656"/>
            <a:ext cx="82296" cy="82296"/>
          </a:xfrm>
          <a:prstGeom prst="ellipse">
            <a:avLst/>
          </a:prstGeom>
          <a:solidFill>
            <a:srgbClr val="1A6B1A"/>
          </a:solidFill>
        </p:spPr>
      </p:sp>
      <p:sp>
        <p:nvSpPr>
          <p:cNvPr id="91" name="Text 89"/>
          <p:cNvSpPr/>
          <p:nvPr/>
        </p:nvSpPr>
        <p:spPr>
          <a:xfrm>
            <a:off x="8220456" y="40233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model: human_decision + downstream_result + predicted_confidence + was_correct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074152" y="4507992"/>
            <a:ext cx="82296" cy="82296"/>
          </a:xfrm>
          <a:prstGeom prst="ellipse">
            <a:avLst/>
          </a:prstGeom>
          <a:solidFill>
            <a:srgbClr val="1A6B1A"/>
          </a:solidFill>
        </p:spPr>
      </p:sp>
      <p:sp>
        <p:nvSpPr>
          <p:cNvPr id="93" name="Text 91"/>
          <p:cNvSpPr/>
          <p:nvPr/>
        </p:nvSpPr>
        <p:spPr>
          <a:xfrm>
            <a:off x="8220456" y="442569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calibration: Brier score = mean((pred_confidence − was_correct)²) per bidder/decision_type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074152" y="4910328"/>
            <a:ext cx="82296" cy="82296"/>
          </a:xfrm>
          <a:prstGeom prst="ellipse">
            <a:avLst/>
          </a:prstGeom>
          <a:solidFill>
            <a:srgbClr val="1A6B1A"/>
          </a:solidFill>
        </p:spPr>
      </p:sp>
      <p:sp>
        <p:nvSpPr>
          <p:cNvPr id="95" name="Text 93"/>
          <p:cNvSpPr/>
          <p:nvPr/>
        </p:nvSpPr>
        <p:spPr>
          <a:xfrm>
            <a:off x="8220456" y="482803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 weight updates gated by min sample-size per decision_type — low learning rate after gate — no noise-driven swings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8074152" y="5312664"/>
            <a:ext cx="82296" cy="82296"/>
          </a:xfrm>
          <a:prstGeom prst="ellipse">
            <a:avLst/>
          </a:prstGeom>
          <a:solidFill>
            <a:srgbClr val="1A6B1A"/>
          </a:solidFill>
        </p:spPr>
      </p:sp>
      <p:sp>
        <p:nvSpPr>
          <p:cNvPr id="97" name="Text 95"/>
          <p:cNvSpPr/>
          <p:nvPr/>
        </p:nvSpPr>
        <p:spPr>
          <a:xfrm>
            <a:off x="8220456" y="523036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Override pattern tracking: cohort/team level ONLY — never individual-punitive without HR review step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074152" y="5715000"/>
            <a:ext cx="82296" cy="82296"/>
          </a:xfrm>
          <a:prstGeom prst="ellipse">
            <a:avLst/>
          </a:prstGeom>
          <a:solidFill>
            <a:srgbClr val="1A6B1A"/>
          </a:solidFill>
        </p:spPr>
      </p:sp>
      <p:sp>
        <p:nvSpPr>
          <p:cNvPr id="99" name="Text 97"/>
          <p:cNvSpPr/>
          <p:nvPr/>
        </p:nvSpPr>
        <p:spPr>
          <a:xfrm>
            <a:off x="8220456" y="563270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Cost-aware model routing: Compliance = deterministic; Ops/Finance = small model; Planner/Risk/CS = claude-sonnet-4-6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SENTINEL: Agent Catalog &amp; Data Contracts — 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agent, its layer, inputs, and outputs — plus the Pydantic contracts that freeze component seams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11704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66928"/>
            <a:ext cx="6035040" cy="237744"/>
          </a:xfrm>
          <a:prstGeom prst="roundRect">
            <a:avLst>
              <a:gd name="adj" fmla="val 19231"/>
            </a:avLst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AGENT CATALOG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850392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9611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D4501A"/>
          </a:solidFill>
        </p:spPr>
      </p:sp>
      <p:sp>
        <p:nvSpPr>
          <p:cNvPr id="8" name="Text 6"/>
          <p:cNvSpPr/>
          <p:nvPr/>
        </p:nvSpPr>
        <p:spPr>
          <a:xfrm>
            <a:off x="256032" y="89611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25880" y="88696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Planner Agent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08960" y="86868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 / structured request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08960" y="101498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TaskPlan · decision_type · agent routing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26280" y="8869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≥0.8 → existing; &lt;0.8 → factory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28600" y="1207008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25272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006B6B"/>
          </a:solidFill>
        </p:spPr>
      </p:sp>
      <p:sp>
        <p:nvSpPr>
          <p:cNvPr id="15" name="Text 13"/>
          <p:cNvSpPr/>
          <p:nvPr/>
        </p:nvSpPr>
        <p:spPr>
          <a:xfrm>
            <a:off x="256032" y="125272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325880" y="12435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CRM / ATS Agent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0" y="1225296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Client/JO/Candidate IDs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108960" y="137160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status · account history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26280" y="124358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Wraps ATS/CRM API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8600" y="1536192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157276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Agent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08960" y="155448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IDs · date range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108960" y="170078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· commitments · objections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26280" y="15727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extraction, confidence-scored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28600" y="1865376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19019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Meetings/Calls Agent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08960" y="188366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 IDs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108960" y="202996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&amp; commitments from calls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26280" y="19019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pattern as Email Agent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194560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223113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Activity Agent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08960" y="221284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ID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108960" y="2359152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 &amp; flight-risk signals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26280" y="22311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Portal logs + timesheet patterns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28600" y="2523744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5880" y="256032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Base Agent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08960" y="2542032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type · geo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08960" y="2688336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/ playbook facts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26280" y="256032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rules + rate-card policy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8600" y="2852928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25880" y="288950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Market/Labor Data Agent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08960" y="2871216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· geo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08960" y="301752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rate / supply benchmarks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26280" y="288950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&amp; sourcing strategy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28600" y="3182112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5880" y="321868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Registry Agent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108960" y="320040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Candidate/Contract ID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108960" y="334670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/ cert / BGC status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26280" y="32186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Feeds Compliance bidder — deterministic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28600" y="3511296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25880" y="35478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Precedent Agent (RAG)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108960" y="352958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type · entity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108960" y="367588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 past decisions + outcomes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26280" y="35478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search; no-match floor enforced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28600" y="3867912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" y="391363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7B2D9B"/>
          </a:solidFill>
        </p:spPr>
      </p:sp>
      <p:sp>
        <p:nvSpPr>
          <p:cNvPr id="57" name="Text 55"/>
          <p:cNvSpPr/>
          <p:nvPr/>
        </p:nvSpPr>
        <p:spPr>
          <a:xfrm>
            <a:off x="256032" y="39136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325880" y="390448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Readiness Evaluator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108960" y="388620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memory + decision type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108960" y="403250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/ Not Ready / Caveats / Blocked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526280" y="39044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= terminal → compliance escalation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8600" y="4197096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25880" y="42336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Agent Creator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108960" y="421538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Top-ranked evidence gap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108960" y="436168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narrow agent instance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26280" y="42336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Templated factory — not arbitrary code-gen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28600" y="4553712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6032" y="459943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C0392B"/>
          </a:solidFill>
        </p:spPr>
      </p:sp>
      <p:sp>
        <p:nvSpPr>
          <p:cNvPr id="69" name="Text 67"/>
          <p:cNvSpPr/>
          <p:nvPr/>
        </p:nvSpPr>
        <p:spPr>
          <a:xfrm>
            <a:off x="256032" y="45994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BIDDING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325880" y="459028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/ Risk / CS / Finance / Ops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108960" y="457200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memory + candidate actions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108960" y="471830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0–1 · rationale · confidence · refs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526280" y="45902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call with structured output schema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28600" y="4882896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25880" y="49194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Bidder (VETO)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108960" y="490118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Registry facts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108960" y="504748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is_veto: true/false — hard removal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526280" y="49194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deterministic — NEVER LLM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28600" y="5239512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6032" y="528523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A6B1A"/>
          </a:solidFill>
        </p:spPr>
      </p:sp>
      <p:sp>
        <p:nvSpPr>
          <p:cNvPr id="81" name="Text 79"/>
          <p:cNvSpPr/>
          <p:nvPr/>
        </p:nvSpPr>
        <p:spPr>
          <a:xfrm>
            <a:off x="256032" y="52852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1325880" y="527608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Multi-Objective Optimizer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108960" y="5257800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bids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3108960" y="540410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Typed slot-filled Action OR null_no_action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526280" y="52760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slot composition; no LLM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228600" y="5568696"/>
            <a:ext cx="60350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325880" y="56052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Explanation/Counterfactual Engine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3108960" y="5586984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Winning + losing bids · precedent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3108960" y="573328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Rationale + counterfactuals + similar cases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526280" y="56052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Cites shared-memory facts only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28600" y="5897880"/>
            <a:ext cx="60350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325880" y="593445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/ Learning Service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108960" y="591616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decision + downstream outcome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3108960" y="6062472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Updated VoI priors · EMA weights · Brier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526280" y="593445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Sample-size gated; correlational v1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28600" y="804672"/>
            <a:ext cx="6035040" cy="54864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8600" y="804672"/>
            <a:ext cx="6035040" cy="544982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492240" y="566928"/>
            <a:ext cx="5486400" cy="237744"/>
          </a:xfrm>
          <a:prstGeom prst="roundRect">
            <a:avLst>
              <a:gd name="adj" fmla="val 19231"/>
            </a:avLst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92240" y="56692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CONTRACTS (Pydantic Models)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492240" y="850392"/>
            <a:ext cx="5486400" cy="1522476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92240" y="850392"/>
            <a:ext cx="5486400" cy="228600"/>
          </a:xfrm>
          <a:prstGeom prst="roundRect">
            <a:avLst>
              <a:gd name="adj" fmla="val 24000"/>
            </a:avLst>
          </a:prstGeom>
          <a:solidFill>
            <a:srgbClr val="006B6B"/>
          </a:solidFill>
        </p:spPr>
      </p:sp>
      <p:sp>
        <p:nvSpPr>
          <p:cNvPr id="102" name="Shape 100"/>
          <p:cNvSpPr/>
          <p:nvPr/>
        </p:nvSpPr>
        <p:spPr>
          <a:xfrm>
            <a:off x="6492240" y="960120"/>
            <a:ext cx="5486400" cy="118872"/>
          </a:xfrm>
          <a:prstGeom prst="rect">
            <a:avLst/>
          </a:prstGeom>
          <a:solidFill>
            <a:srgbClr val="006B6B"/>
          </a:solidFill>
        </p:spPr>
      </p:sp>
      <p:sp>
        <p:nvSpPr>
          <p:cNvPr id="103" name="Text 101"/>
          <p:cNvSpPr/>
          <p:nvPr/>
        </p:nvSpPr>
        <p:spPr>
          <a:xfrm>
            <a:off x="6583680" y="877824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565392" y="1097280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tenant_id: str  # branch scope — all queries tenant-scoped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565392" y="1275588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entity_type: Literal[Client|JobOrder|Candidate|Contract|Recruiter]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565392" y="1453896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fact_type: str  # e.g. competing_offer_signal, work_auth_status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6565392" y="1632204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value: str | float | bool  |  source_agent: str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6565392" y="1810512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confidence: float  # 0–1; human_input capped at 0.6 hard ceiling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565392" y="1988820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evidence_ref: str  # pointer to raw snippet (email/ATS record)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565392" y="2167128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pii_class: Literal[none|standard|sensitive]  # drives access scoping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492240" y="2464308"/>
            <a:ext cx="5486400" cy="809244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450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492240" y="2464308"/>
            <a:ext cx="5486400" cy="228600"/>
          </a:xfrm>
          <a:prstGeom prst="roundRect">
            <a:avLst>
              <a:gd name="adj" fmla="val 24000"/>
            </a:avLst>
          </a:prstGeom>
          <a:solidFill>
            <a:srgbClr val="D4501A"/>
          </a:solidFill>
        </p:spPr>
      </p:sp>
      <p:sp>
        <p:nvSpPr>
          <p:cNvPr id="113" name="Shape 111"/>
          <p:cNvSpPr/>
          <p:nvPr/>
        </p:nvSpPr>
        <p:spPr>
          <a:xfrm>
            <a:off x="6492240" y="2574036"/>
            <a:ext cx="5486400" cy="118872"/>
          </a:xfrm>
          <a:prstGeom prst="rect">
            <a:avLst/>
          </a:prstGeom>
          <a:solidFill>
            <a:srgbClr val="D4501A"/>
          </a:solidFill>
        </p:spPr>
      </p:sp>
      <p:sp>
        <p:nvSpPr>
          <p:cNvPr id="114" name="Text 112"/>
          <p:cNvSpPr/>
          <p:nvPr/>
        </p:nvSpPr>
        <p:spPr>
          <a:xfrm>
            <a:off x="6583680" y="24917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EvidenceGap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565392" y="2711196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fact_type: str  |  checklist_weight: float  # hand-set VoI weight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6565392" y="2889504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current_confidence: float  # 0.0 if entirely missing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6565392" y="3067812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is_compliance_relevant: bool  # triggers Blocked if unresolvable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6492240" y="3364992"/>
            <a:ext cx="5486400" cy="11658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492240" y="3364992"/>
            <a:ext cx="5486400" cy="228600"/>
          </a:xfrm>
          <a:prstGeom prst="roundRect">
            <a:avLst>
              <a:gd name="adj" fmla="val 24000"/>
            </a:avLst>
          </a:prstGeom>
          <a:solidFill>
            <a:srgbClr val="C0392B"/>
          </a:solidFill>
        </p:spPr>
      </p:sp>
      <p:sp>
        <p:nvSpPr>
          <p:cNvPr id="120" name="Shape 118"/>
          <p:cNvSpPr/>
          <p:nvPr/>
        </p:nvSpPr>
        <p:spPr>
          <a:xfrm>
            <a:off x="6492240" y="3474720"/>
            <a:ext cx="5486400" cy="118872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21" name="Text 119"/>
          <p:cNvSpPr/>
          <p:nvPr/>
        </p:nvSpPr>
        <p:spPr>
          <a:xfrm>
            <a:off x="6583680" y="3392424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565392" y="3611880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bidder: Literal[Revenue|Risk|CustomerSuccess|Finance|Compliance|Ops]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6565392" y="3790188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score: float  # normalized 0–1 'expected positive impact' — common scale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6565392" y="3968496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confidence: float  # = f(own reasoning, min(evidence_ref confidences))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6565392" y="4146804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evidence_refs: list[str]  # shared-memory IDs only — no hallucination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6565392" y="4325112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is_veto: bool  # Compliance only; hard-removes action ignoring score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6492240" y="4622292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A6B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92240" y="4622292"/>
            <a:ext cx="5486400" cy="228600"/>
          </a:xfrm>
          <a:prstGeom prst="roundRect">
            <a:avLst>
              <a:gd name="adj" fmla="val 24000"/>
            </a:avLst>
          </a:prstGeom>
          <a:solidFill>
            <a:srgbClr val="1A6B1A"/>
          </a:solidFill>
        </p:spPr>
      </p:sp>
      <p:sp>
        <p:nvSpPr>
          <p:cNvPr id="129" name="Shape 127"/>
          <p:cNvSpPr/>
          <p:nvPr/>
        </p:nvSpPr>
        <p:spPr>
          <a:xfrm>
            <a:off x="6492240" y="4732020"/>
            <a:ext cx="5486400" cy="118872"/>
          </a:xfrm>
          <a:prstGeom prst="rect">
            <a:avLst/>
          </a:prstGeom>
          <a:solidFill>
            <a:srgbClr val="1A6B1A"/>
          </a:solidFill>
        </p:spPr>
      </p:sp>
      <p:sp>
        <p:nvSpPr>
          <p:cNvPr id="130" name="Text 128"/>
          <p:cNvSpPr/>
          <p:nvPr/>
        </p:nvSpPr>
        <p:spPr>
          <a:xfrm>
            <a:off x="6583680" y="4649724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/ FulfillmentAction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6565392" y="4869180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action_type: Literal[recommended|null_no_action]  # explicit null output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6565392" y="5047488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candidate_slots: list[SlotAssignment]  # typed slots, rule-composed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6565392" y="5225796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composed_from: list[str]  # bid IDs → traceability for 'why not X'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6565392" y="5404104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status: Literal[proposed|human_approved|human_edited|human_rejected]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6492240" y="5701284"/>
            <a:ext cx="5486400" cy="11658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7B2D9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92240" y="5701284"/>
            <a:ext cx="5486400" cy="228600"/>
          </a:xfrm>
          <a:prstGeom prst="roundRect">
            <a:avLst>
              <a:gd name="adj" fmla="val 24000"/>
            </a:avLst>
          </a:prstGeom>
          <a:solidFill>
            <a:srgbClr val="7B2D9B"/>
          </a:solidFill>
        </p:spPr>
      </p:sp>
      <p:sp>
        <p:nvSpPr>
          <p:cNvPr id="137" name="Shape 135"/>
          <p:cNvSpPr/>
          <p:nvPr/>
        </p:nvSpPr>
        <p:spPr>
          <a:xfrm>
            <a:off x="6492240" y="5811012"/>
            <a:ext cx="5486400" cy="118872"/>
          </a:xfrm>
          <a:prstGeom prst="rect">
            <a:avLst/>
          </a:prstGeom>
          <a:solidFill>
            <a:srgbClr val="7B2D9B"/>
          </a:solidFill>
        </p:spPr>
      </p:sp>
      <p:sp>
        <p:nvSpPr>
          <p:cNvPr id="138" name="Text 136"/>
          <p:cNvSpPr/>
          <p:nvPr/>
        </p:nvSpPr>
        <p:spPr>
          <a:xfrm>
            <a:off x="6583680" y="572871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+ CalibrationRecord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565392" y="5948172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human_decision: Literal[accept|edit|reject]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6565392" y="6126480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predicted_confidence: float  # stated confidence at decision time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6565392" y="6304788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was_correct: Optional[bool]  # null until downstream result known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6565392" y="6483096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brier_score: float  # mean((pred_conf − was_correct)²) per bidder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6565392" y="6661404"/>
            <a:ext cx="5340096" cy="178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sample_size: int  # only reported once ≥ minimum threshold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 in Action: End-to-End Scenarios — 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Concrete walkthroughs demonstrating every pipeline stage across three real staffing decision types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11704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66928"/>
            <a:ext cx="379476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D1  Fulfillment Risk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794760" cy="365760"/>
          </a:xfrm>
          <a:prstGeom prst="roundRect">
            <a:avLst>
              <a:gd name="adj" fmla="val 12500"/>
            </a:avLst>
          </a:prstGeom>
          <a:solidFill>
            <a:srgbClr val="FBF0E8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TRIGGER: JO-2291: .NET Dev @ Meridian Health — open 5 days, 1 submittal vs. 3-day SLA breached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280160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16200000">
            <a:off x="228600" y="1280160"/>
            <a:ext cx="256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1208" y="1280160"/>
            <a:ext cx="35021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2648" y="1389888"/>
            <a:ext cx="91440" cy="9144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2" name="Text 10"/>
          <p:cNvSpPr/>
          <p:nvPr/>
        </p:nvSpPr>
        <p:spPr>
          <a:xfrm>
            <a:off x="758952" y="1335024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 aging with no quality submittals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" y="1645920"/>
            <a:ext cx="91440" cy="9144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4" name="Text 12"/>
          <p:cNvSpPr/>
          <p:nvPr/>
        </p:nvSpPr>
        <p:spPr>
          <a:xfrm>
            <a:off x="758952" y="1591056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 availability unknown — low confidence in ATS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965960"/>
            <a:ext cx="256032" cy="2468880"/>
          </a:xfrm>
          <a:prstGeom prst="rect">
            <a:avLst/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16200000">
            <a:off x="228600" y="1965960"/>
            <a:ext cx="256032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1208" y="196596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94360" y="20574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057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0299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Planner → CRM + KB + Market Data agents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25146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5146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4871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DRE: low confidence on 'bench skill match' → VoI ranks it #1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" y="29718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9718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29443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Agent Creator spins bench-skill-match agent → new Fact written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" y="34290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290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4015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Agent: VETO on candidate with pending BGC (deterministic rule)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38862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38587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 re-fills backup slot after veto; Ops flags recruiter over capacity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4480560"/>
            <a:ext cx="256032" cy="777240"/>
          </a:xfrm>
          <a:prstGeom prst="rect">
            <a:avLst/>
          </a:prstGeom>
          <a:solidFill>
            <a:srgbClr val="1A6B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 rot="16200000">
            <a:off x="228600" y="4480560"/>
            <a:ext cx="256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1208" y="4480560"/>
            <a:ext cx="3502152" cy="777240"/>
          </a:xfrm>
          <a:prstGeom prst="roundRect">
            <a:avLst>
              <a:gd name="adj" fmla="val 5882"/>
            </a:avLst>
          </a:prstGeom>
          <a:solidFill>
            <a:srgbClr val="EBF8F0"/>
          </a:solidFill>
          <a:ln w="10160">
            <a:solidFill>
              <a:srgbClr val="1A6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5354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Filled in 2 more days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2648" y="47640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Compliance veto logged correctly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2648" y="49926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bench-skill VoI weight reinforced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5303520"/>
            <a:ext cx="3794760" cy="320040"/>
          </a:xfrm>
          <a:prstGeom prst="roundRect">
            <a:avLst>
              <a:gd name="adj" fmla="val 11429"/>
            </a:avLst>
          </a:prstGeom>
          <a:solidFill>
            <a:srgbClr val="F5EDE6"/>
          </a:solidFill>
          <a:ln w="7620">
            <a:solidFill>
              <a:srgbClr val="D4501A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20040" y="53035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HITL Checkpoint 2: Nothing executes without recruiter/AM sign-off (accept / edit / reject / 'why not X')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178808" y="566928"/>
            <a:ext cx="3794760" cy="256032"/>
          </a:xfrm>
          <a:prstGeom prst="roundRect">
            <a:avLst>
              <a:gd name="adj" fmla="val 17857"/>
            </a:avLst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56692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D3  Flight-Risk / Fall-off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78808" y="868680"/>
            <a:ext cx="3794760" cy="365760"/>
          </a:xfrm>
          <a:prstGeom prst="roundRect">
            <a:avLst>
              <a:gd name="adj" fmla="val 12500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70248" y="868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TRIGGER: Arjun Mehta @ Vantage: 2 rescheduled calls, timesheet 2 days late, vague email language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78808" y="1280160"/>
            <a:ext cx="256032" cy="640080"/>
          </a:xfrm>
          <a:prstGeom prst="rect">
            <a:avLst/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 rot="16200000">
            <a:off x="4178808" y="1280160"/>
            <a:ext cx="256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71416" y="1280160"/>
            <a:ext cx="35021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562856" y="1389888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49" name="Text 47"/>
          <p:cNvSpPr/>
          <p:nvPr/>
        </p:nvSpPr>
        <p:spPr>
          <a:xfrm>
            <a:off x="4709160" y="1335024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going quiet — low engagement signals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62856" y="1645920"/>
            <a:ext cx="91440" cy="91440"/>
          </a:xfrm>
          <a:prstGeom prst="ellipse">
            <a:avLst/>
          </a:prstGeom>
          <a:solidFill>
            <a:srgbClr val="D4501A"/>
          </a:solidFill>
        </p:spPr>
      </p:sp>
      <p:sp>
        <p:nvSpPr>
          <p:cNvPr id="51" name="Text 49"/>
          <p:cNvSpPr/>
          <p:nvPr/>
        </p:nvSpPr>
        <p:spPr>
          <a:xfrm>
            <a:off x="4709160" y="1591056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Competing offer presence unconfirmed (confidence: 0.35)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78808" y="1965960"/>
            <a:ext cx="256032" cy="2468880"/>
          </a:xfrm>
          <a:prstGeom prst="rect">
            <a:avLst/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 rot="16200000">
            <a:off x="4178808" y="1965960"/>
            <a:ext cx="256032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71416" y="196596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44568" y="2057400"/>
            <a:ext cx="256032" cy="256032"/>
          </a:xfrm>
          <a:prstGeom prst="ellipse">
            <a:avLst/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44568" y="2057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64608" y="20299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Agent extracts 'exploring options' — low confidence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44568" y="2514600"/>
            <a:ext cx="256032" cy="256032"/>
          </a:xfrm>
          <a:prstGeom prst="ellipse">
            <a:avLst/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44568" y="25146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64608" y="24871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Activity Agent: portal login spike, 3× profile update rate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44568" y="2971800"/>
            <a:ext cx="256032" cy="256032"/>
          </a:xfrm>
          <a:prstGeom prst="ellipse">
            <a:avLst/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44568" y="29718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64608" y="29443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DRE: competing_offer_signal needs ≥0.6 → Not Ready; VoI ranks it #1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44568" y="3429000"/>
            <a:ext cx="256032" cy="256032"/>
          </a:xfrm>
          <a:prstGeom prst="ellipse">
            <a:avLst/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44568" y="34290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64608" y="34015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Agent: deep call-note scan → 'another opportunity' phrase found → 0.68 confidence → Ready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44568" y="3886200"/>
            <a:ext cx="256032" cy="256032"/>
          </a:xfrm>
          <a:prstGeom prst="ellipse">
            <a:avLst/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44568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64608" y="38587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 AM retention call within 24h + pre-qualify 1 backup quietly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178808" y="4480560"/>
            <a:ext cx="256032" cy="777240"/>
          </a:xfrm>
          <a:prstGeom prst="rect">
            <a:avLst/>
          </a:prstGeom>
          <a:solidFill>
            <a:srgbClr val="1A6B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 rot="16200000">
            <a:off x="4178808" y="4480560"/>
            <a:ext cx="256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71416" y="4480560"/>
            <a:ext cx="3502152" cy="777240"/>
          </a:xfrm>
          <a:prstGeom prst="roundRect">
            <a:avLst>
              <a:gd name="adj" fmla="val 5882"/>
            </a:avLst>
          </a:prstGeom>
          <a:solidFill>
            <a:srgbClr val="EBF8F0"/>
          </a:solidFill>
          <a:ln w="10160">
            <a:solidFill>
              <a:srgbClr val="1A6B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62856" y="45354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AM retention call scheduled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562856" y="47640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Backup pre-qualified silently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562856" y="49926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Fall-off outcome feeds D3 VoI priors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178808" y="5303520"/>
            <a:ext cx="3794760" cy="320040"/>
          </a:xfrm>
          <a:prstGeom prst="roundRect">
            <a:avLst>
              <a:gd name="adj" fmla="val 11429"/>
            </a:avLst>
          </a:prstGeom>
          <a:solidFill>
            <a:srgbClr val="F5EDE6"/>
          </a:solidFill>
          <a:ln w="7620">
            <a:solidFill>
              <a:srgbClr val="D4501A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4270248" y="53035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HITL Checkpoint 2: Nothing executes without recruiter/AM sign-off (accept / edit / reject / 'why not X')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129016" y="566928"/>
            <a:ext cx="3794760" cy="256032"/>
          </a:xfrm>
          <a:prstGeom prst="roundRect">
            <a:avLst>
              <a:gd name="adj" fmla="val 17857"/>
            </a:avLst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29016" y="56692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D4+D9  Contract End + Upsell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129016" y="868680"/>
            <a:ext cx="3794760" cy="365760"/>
          </a:xfrm>
          <a:prstGeom prst="roundRect">
            <a:avLst>
              <a:gd name="adj" fmla="val 12500"/>
            </a:avLst>
          </a:prstGeom>
          <a:solidFill>
            <a:srgbClr val="FBF0E8"/>
          </a:solidFill>
          <a:ln w="10160">
            <a:solidFill>
              <a:srgbClr val="006B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0456" y="868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TRIGGER: Contractor @ Orion Labs: 45 days to contract end — client also growing headcount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129016" y="1280160"/>
            <a:ext cx="256032" cy="640080"/>
          </a:xfrm>
          <a:prstGeom prst="rect">
            <a:avLst/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 rot="16200000">
            <a:off x="8129016" y="1280160"/>
            <a:ext cx="256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421624" y="1280160"/>
            <a:ext cx="35021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8513064" y="1389888"/>
            <a:ext cx="91440" cy="91440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86" name="Text 84"/>
          <p:cNvSpPr/>
          <p:nvPr/>
        </p:nvSpPr>
        <p:spPr>
          <a:xfrm>
            <a:off x="8659368" y="1335024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 end approaching — renew, convert, or release?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513064" y="1645920"/>
            <a:ext cx="91440" cy="91440"/>
          </a:xfrm>
          <a:prstGeom prst="ellipse">
            <a:avLst/>
          </a:prstGeom>
          <a:solidFill>
            <a:srgbClr val="006B6B"/>
          </a:solidFill>
        </p:spPr>
      </p:sp>
      <p:sp>
        <p:nvSpPr>
          <p:cNvPr id="88" name="Text 86"/>
          <p:cNvSpPr/>
          <p:nvPr/>
        </p:nvSpPr>
        <p:spPr>
          <a:xfrm>
            <a:off x="8659368" y="1591056"/>
            <a:ext cx="3172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bill rate $85/hr vs. market $97/hr (+14.1% gap)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129016" y="1965960"/>
            <a:ext cx="256032" cy="2468880"/>
          </a:xfrm>
          <a:prstGeom prst="rect">
            <a:avLst/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 rot="16200000">
            <a:off x="8129016" y="1965960"/>
            <a:ext cx="256032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421624" y="1965960"/>
            <a:ext cx="350215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C0622A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8494776" y="2057400"/>
            <a:ext cx="256032" cy="25603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94776" y="2057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814816" y="20299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Planner: D4 primary + D9 secondary — both checklists run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494776" y="2514600"/>
            <a:ext cx="256032" cy="25603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94776" y="25146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814816" y="24871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DRE: D4 Ready on first pass (well-instrumented type)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494776" y="2971800"/>
            <a:ext cx="256032" cy="25603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494776" y="29718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814816" y="29443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 Agent: bill rate below market → renegotiation opportunity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494776" y="3429000"/>
            <a:ext cx="256032" cy="25603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494776" y="34290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8814816" y="34015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Agent: work auth confirmed through extension date — no veto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8494776" y="3886200"/>
            <a:ext cx="256032" cy="256032"/>
          </a:xfrm>
          <a:prstGeom prst="ellipse">
            <a:avLst/>
          </a:prstGeom>
          <a:solidFill>
            <a:srgbClr val="00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494776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8814816" y="3858768"/>
            <a:ext cx="30175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 propose renewal + rate adjustment with market data packaged for AM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8129016" y="4480560"/>
            <a:ext cx="256032" cy="777240"/>
          </a:xfrm>
          <a:prstGeom prst="rect">
            <a:avLst/>
          </a:prstGeom>
          <a:solidFill>
            <a:srgbClr val="1A6B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 rot="16200000">
            <a:off x="8129016" y="4480560"/>
            <a:ext cx="256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8421624" y="4480560"/>
            <a:ext cx="3502152" cy="777240"/>
          </a:xfrm>
          <a:prstGeom prst="roundRect">
            <a:avLst>
              <a:gd name="adj" fmla="val 5882"/>
            </a:avLst>
          </a:prstGeom>
          <a:solidFill>
            <a:srgbClr val="EBF8F0"/>
          </a:solidFill>
          <a:ln w="10160">
            <a:solidFill>
              <a:srgbClr val="1A6B1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513064" y="45354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Renewal proposed with rate justification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8513064" y="47640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D9 upsell flagged separately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513064" y="4992624"/>
            <a:ext cx="33192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Revenue per account ↑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8129016" y="5303520"/>
            <a:ext cx="3794760" cy="320040"/>
          </a:xfrm>
          <a:prstGeom prst="roundRect">
            <a:avLst>
              <a:gd name="adj" fmla="val 11429"/>
            </a:avLst>
          </a:prstGeom>
          <a:solidFill>
            <a:srgbClr val="F5EDE6"/>
          </a:solidFill>
          <a:ln w="7620">
            <a:solidFill>
              <a:srgbClr val="D4501A"/>
            </a:solidFill>
            <a:prstDash val="dash"/>
          </a:ln>
        </p:spPr>
      </p:sp>
      <p:sp>
        <p:nvSpPr>
          <p:cNvPr id="114" name="Text 112"/>
          <p:cNvSpPr/>
          <p:nvPr/>
        </p:nvSpPr>
        <p:spPr>
          <a:xfrm>
            <a:off x="8220456" y="53035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HITL Checkpoint 2: Nothing executes without recruiter/AM sign-off (accept / edit / reject / 'why not X')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228600" y="5687568"/>
            <a:ext cx="11704320" cy="1078992"/>
          </a:xfrm>
          <a:prstGeom prst="roundRect">
            <a:avLst>
              <a:gd name="adj" fmla="val 4237"/>
            </a:avLst>
          </a:prstGeom>
          <a:solidFill>
            <a:srgbClr val="FBF0E8"/>
          </a:solidFill>
          <a:ln w="10160">
            <a:solidFill>
              <a:srgbClr val="C0622A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228600" y="5687568"/>
            <a:ext cx="2743200" cy="228600"/>
          </a:xfrm>
          <a:prstGeom prst="roundRect">
            <a:avLst>
              <a:gd name="adj" fmla="val 20000"/>
            </a:avLst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28600" y="56875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CAPTURE → LEARNING LOOP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3200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 Weight Update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320040" y="616305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types that mattered reinforced for future same decision_type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3218688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 Bidding Weights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3218688" y="616305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Recalibrated per branch from real outcomes — min sample-size gated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6117336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Brier Score Calibration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6117336" y="616305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mean((pred_confidence − was_correct)²) per bidder — batch computed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9015984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Override Pattern Tracking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9015984" y="616305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Cohort-level only; never individual-punitive without HR review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SENTINEL: Business Outcomes, Evaluation &amp; Responsible AI — 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 · Evaluation methodology · Reusability proof · Privacy &amp; fairness safeguards · Tech stack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117043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66928"/>
            <a:ext cx="5577840" cy="228600"/>
          </a:xfrm>
          <a:prstGeom prst="roundRect">
            <a:avLst>
              <a:gd name="adj" fmla="val 20000"/>
            </a:avLst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66928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BUSINESS KPIs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6868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Time-to-Fill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" y="10424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sourcing via DRE/VoI targeting (D1, D2)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017520" y="841248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86868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Submit→Interview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90672" y="10424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Better-matched shortlists from bidding layer (D2)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1261872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289304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Fall-off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" y="14630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Flight-risk caught early before drop (D3)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17520" y="1261872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289304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Bench 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90672" y="14630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 monetisation proactive marketing (D5)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1682496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00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70992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Renewal 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" y="188366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 end-of-term + rate renegotiation (D4)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17520" y="1682496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1A6B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170992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Gross Margin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90672" y="188366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decisions vs. market benchmarks (D8)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2103120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130552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50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Compliance Incidents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" y="23042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deterministic veto; no LLM on visa/cert (D7)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017520" y="2103120"/>
            <a:ext cx="27157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7B2D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2130552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% Recs Accepted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90672" y="23042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loop calibrating recommendations over time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560320"/>
            <a:ext cx="5577840" cy="228600"/>
          </a:xfrm>
          <a:prstGeom prst="roundRect">
            <a:avLst>
              <a:gd name="adj" fmla="val 20000"/>
            </a:avLst>
          </a:prstGeom>
          <a:solidFill>
            <a:srgbClr val="7B2D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560320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METHODOLOGY (Offline Simulation)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834640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871216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Acceptance Rate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3035808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accept/edit/reject from Outcome.human_decision — primary signal recs are useful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3273552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31012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 Call Efficiency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347472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DRE iterations vs. 'gather-all' baseline — validates targeted evidence approach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8600" y="3712464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490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Calibration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0040" y="3913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Brier score mean((pred_conf−was_correct)²) per bidder; suppressed if sample_size &lt; min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28600" y="4151376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87952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Bidding-Weight Stability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0040" y="4352544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 weight variance across updates — confirms sample-size guard working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4590288"/>
            <a:ext cx="5577840" cy="393192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62686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Outcome Movement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0040" y="4791456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Directional change in time-to-fill/fall-off/redeployment vs. §2.4 KPI table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5029200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 set: seeded synthetic history (20–30/type warm-start) + separate held-out set (~50 decisions, D1+D3). Stated as illustrative — not a production claim. v1 outcome capture is correlational; causal attribution = v2 upgrade.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989320" y="566928"/>
            <a:ext cx="5943600" cy="228600"/>
          </a:xfrm>
          <a:prstGeom prst="roundRect">
            <a:avLst>
              <a:gd name="adj" fmla="val 20000"/>
            </a:avLst>
          </a:prstGeom>
          <a:solidFill>
            <a:srgbClr val="5C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5669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REUSABILITY — DOMAIN SWAP PROOF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841248"/>
            <a:ext cx="5943600" cy="402336"/>
          </a:xfrm>
          <a:prstGeom prst="roundRect">
            <a:avLst>
              <a:gd name="adj" fmla="val 11364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87782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Decision Type →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955280" y="877824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DRE checklist entry + map existing agents. Zero pipeline change. Planner picks up via decision_type tag.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89320" y="1298448"/>
            <a:ext cx="5943600" cy="402336"/>
          </a:xfrm>
          <a:prstGeom prst="roundRect">
            <a:avLst>
              <a:gd name="adj" fmla="val 11364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133502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Evidence Source →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55280" y="1335024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 as Evidence Agent implementing (value, source, confidence, timestamp, evidence_ref, pii_class) contract.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989320" y="1755648"/>
            <a:ext cx="5943600" cy="402336"/>
          </a:xfrm>
          <a:prstGeom prst="roundRect">
            <a:avLst>
              <a:gd name="adj" fmla="val 11364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179222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Business Objective →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955280" y="1792224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one Bidder Agent with (score 0–1, rationale, confidence, evidence_refs) output. Optimizer includes automatically.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989320" y="2212848"/>
            <a:ext cx="5943600" cy="402336"/>
          </a:xfrm>
          <a:prstGeom prst="roundRect">
            <a:avLst>
              <a:gd name="adj" fmla="val 11364"/>
            </a:avLst>
          </a:prstGeom>
          <a:solidFill>
            <a:srgbClr val="FBF0E8"/>
          </a:solidFill>
          <a:ln w="10160">
            <a:solidFill>
              <a:srgbClr val="D450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224942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Domain (SaaS/Energy) →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955280" y="2249424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agent catalog + DRE checklist only. Planner, DRE/VoI, Bidding, Explanation, Memory all untouched.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89320" y="2715768"/>
            <a:ext cx="5943600" cy="228600"/>
          </a:xfrm>
          <a:prstGeom prst="roundRect">
            <a:avLst>
              <a:gd name="adj" fmla="val 20000"/>
            </a:avLst>
          </a:prstGeom>
          <a:solidFill>
            <a:srgbClr val="7B2D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9320" y="271576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 AI — PRIVACY, ACCESS CONTROL &amp; FAIRNESS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989320" y="2990088"/>
            <a:ext cx="594360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0760" y="302666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Multi-Tenancy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680960" y="3026664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Fact/DecisionRequest carries tenant_id. All memory queries tenant-scoped at storage layer — never by prompt convention.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989320" y="3401568"/>
            <a:ext cx="59436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80760" y="343814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PII Access Control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680960" y="3438144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Background-check, work-auth, compensation facts tagged pii_class: 'sensitive'. Role-scoped read access enforced at query layer.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989320" y="3813048"/>
            <a:ext cx="594360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80760" y="384962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Override Pattern Fairness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680960" y="3849624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Recruiter override tracking = cohort/team level ONLY. Never individual-punitive without human HR review step. Logged/auditable.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989320" y="4224528"/>
            <a:ext cx="59436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0760" y="426110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Prompt-Injection Hygiene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680960" y="4261104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Email/transcript content treated strictly as data-to-extract — never as instructions-to-follow. Enforced at prompt-construction layer.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989320" y="4636008"/>
            <a:ext cx="594360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467258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= Deterministic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680960" y="4672584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Agent: ALWAYS rule eval against Registry facts. Never LLM. Veto is irreversible. Human input CANNOT resolve compliance gap.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28600" y="5376672"/>
            <a:ext cx="5577840" cy="201168"/>
          </a:xfrm>
          <a:prstGeom prst="roundRect">
            <a:avLst>
              <a:gd name="adj" fmla="val 22727"/>
            </a:avLst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8600" y="5376672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BUILD ORDER (depth on D1+D3 beats breadth on all 9)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28600" y="5614416"/>
            <a:ext cx="5577840" cy="1170432"/>
          </a:xfrm>
          <a:prstGeom prst="roundRect">
            <a:avLst>
              <a:gd name="adj" fmla="val 3906"/>
            </a:avLst>
          </a:prstGeom>
          <a:solidFill>
            <a:srgbClr val="F5EDE6"/>
          </a:solidFill>
          <a:ln w="7620">
            <a:solidFill>
              <a:srgbClr val="D4501A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320040" y="565099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Shared memory graph + CRM/ATS + Email agents (mocked data, D1+D3)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063240" y="565099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Planner routing + DRE with checklist for D1 &amp; D3 only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20040" y="592531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VoI loop + Dynamic Agent Creator — live 'aha' demo moment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063240" y="592531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Bidding layer: Revenue · Risk · Compliance (veto) · CS — visual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20040" y="619963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Explanation engine + HITL UI (accept/edit/reject/'why not X')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063240" y="619963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⑥ Outcome logging + one visible EMA weight-change moment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20040" y="64739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⑦ (Half-day adds) Precedent Agent · Null-action · Agent clarification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3063240" y="64739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⑧ (Stretch only) Decaying-influence-budget real auction mechanic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989320" y="5376672"/>
            <a:ext cx="5943600" cy="201168"/>
          </a:xfrm>
          <a:prstGeom prst="roundRect">
            <a:avLst>
              <a:gd name="adj" fmla="val 22727"/>
            </a:avLst>
          </a:prstGeom>
          <a:solidFill>
            <a:srgbClr val="D450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89320" y="537667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989320" y="5614416"/>
            <a:ext cx="5943600" cy="1170432"/>
          </a:xfrm>
          <a:prstGeom prst="roundRect">
            <a:avLst>
              <a:gd name="adj" fmla="val 3906"/>
            </a:avLst>
          </a:prstGeom>
          <a:solidFill>
            <a:srgbClr val="F5EDE6"/>
          </a:solidFill>
          <a:ln w="7620">
            <a:solidFill>
              <a:srgbClr val="D4501A"/>
            </a:solidFill>
            <a:prstDash val="dash"/>
          </a:ln>
        </p:spPr>
      </p:sp>
      <p:sp>
        <p:nvSpPr>
          <p:cNvPr id="93" name="Text 91"/>
          <p:cNvSpPr/>
          <p:nvPr/>
        </p:nvSpPr>
        <p:spPr>
          <a:xfrm>
            <a:off x="6126480" y="565099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Orchestration: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452360" y="565099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 · Python · CrewAI-style supervisor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126480" y="592531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Models: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452360" y="592531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claude-sonnet-4-6 (Planner/Risk/CS/Explanation) · Small model (Finance/Ops) · Deterministic (Compliance)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6126480" y="619963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Memory/Graph: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452360" y="61996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Neo4j or networkx (in-memory) · FAISS / Chroma (precedent vector index)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126480" y="647395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Storage: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452360" y="647395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/ Postgres (outcome + calibration records) · Pydantic (data contracts)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16491</Words>
  <Application>WPS Presentation</Application>
  <PresentationFormat>On-screen Show (16:9)</PresentationFormat>
  <Paragraphs>795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WPS_1695724444</cp:lastModifiedBy>
  <cp:revision>2</cp:revision>
  <dcterms:created xsi:type="dcterms:W3CDTF">2026-06-29T03:31:00Z</dcterms:created>
  <dcterms:modified xsi:type="dcterms:W3CDTF">2026-06-29T03:46:38Z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CD0751127F564F2790F149107210AD08_12</vt:lpwstr>
  </property>
  <property fmtid="{D5CDD505-2E9C-101B-9397-08002B2CF9AE}" pid="3" name="KSOProductBuildVer">
    <vt:lpwstr>2057-12.2.0.23203</vt:lpwstr>
  </property>
</Properties>
</file>